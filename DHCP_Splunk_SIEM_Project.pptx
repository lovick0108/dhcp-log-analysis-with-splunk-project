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E94560"/>
                </a:solidFill>
              </a:defRPr>
            </a:pPr>
            <a:r>
              <a:t>🛡️ DHCP LOG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00D4AA"/>
                </a:solidFill>
              </a:defRPr>
            </a:pPr>
            <a:r>
              <a:t>Using Splunk SIEM for Network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8EAED"/>
                </a:solidFill>
              </a:defRPr>
            </a:pPr>
            <a:r>
              <a:t>Presented by: Victoria Ololade Abioye-Obe | SOC Analyst &amp; Cybersecurity Specialist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3460"/>
          </a:solidFill>
          <a:ln w="381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 algn="l">
              <a:defRPr sz="4000" b="1">
                <a:solidFill>
                  <a:srgbClr val="E94560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3460"/>
                </a:solidFill>
              </a:defRPr>
            </a:pPr>
            <a:r>
              <a:t>•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Analyze DHCP logs using Splunk SIEM to detect network anomalies, security threats, and unauthorized activities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48839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3460"/>
                </a:solidFill>
              </a:defRPr>
            </a:pPr>
            <a:r>
              <a:t>•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79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847,321 DHCP events across 4 servers over a 7-day period with real-time monitoring and alerting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59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3460"/>
                </a:solidFill>
              </a:defRPr>
            </a:pPr>
            <a:r>
              <a:t>• Tools 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28999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Splunk SIEM, Splunk Search Processing Language (SPL), Data Analysis, DHCP Protocol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69079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3460"/>
                </a:solidFill>
              </a:defRPr>
            </a:pPr>
            <a:r>
              <a:t>• Deliverables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19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Interactive dashboards, real-time alerts, security incidents reports, remediation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460"/>
          </a:solidFill>
          <a:ln w="381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3600" b="1">
                <a:solidFill>
                  <a:srgbClr val="E94560"/>
                </a:solidFill>
              </a:defRPr>
            </a:pPr>
            <a:r>
              <a:t>Key Performance Indicators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8288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847,321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</a:defRPr>
            </a:pPr>
            <a:r>
              <a:t>Total DHCP 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1371600"/>
            <a:ext cx="18288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155448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2,847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3774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</a:defRPr>
            </a:pPr>
            <a:r>
              <a:t>Active IP Addresses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371600"/>
            <a:ext cx="18288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155448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B347"/>
                </a:solidFill>
              </a:defRPr>
            </a:pPr>
            <a:r>
              <a:t>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3774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</a:defRPr>
            </a:pPr>
            <a:r>
              <a:t>Anomalies Detected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1371600"/>
            <a:ext cx="18288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155448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94560"/>
                </a:solidFill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3774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</a:defRPr>
            </a:pPr>
            <a:r>
              <a:t>Rogue Servers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47472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3460"/>
                </a:solidFill>
              </a:defRPr>
            </a:pPr>
            <a:r>
              <a:t>Analysis Summary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DHCP pool operating at 67% capacity with healthy lease distribution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Detected multiple anomalous activity patterns including rapid requests and protocol violations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Identified 1 critical rogue DHCP server and 8 protocol violation instances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Real-time monitoring enabled immediate detection and response to security incidents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3460"/>
          </a:solidFill>
          <a:ln w="381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 algn="l">
              <a:defRPr sz="4000" b="1">
                <a:solidFill>
                  <a:srgbClr val="E94560"/>
                </a:solidFill>
              </a:defRPr>
            </a:pPr>
            <a:r>
              <a:t>Security Incidents Identified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3460"/>
                </a:solidFill>
              </a:defRPr>
            </a:pPr>
            <a:r>
              <a:t>• Critical: DHCP Starvation Attack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Source 192.168.1.245 initiated 150+ DHCP DISCOVER requests/min attempting to exhaust IP pool. Detected and blocked within 2 minutes.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48839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3460"/>
                </a:solidFill>
              </a:defRPr>
            </a:pPr>
            <a:r>
              <a:t>• Critical: Rogue DHCP 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79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Unauthorized DHCP server detected on VLAN 10 providing conflicting IP assignments. Source isolated and investigated.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59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3460"/>
                </a:solidFill>
              </a:defRPr>
            </a:pPr>
            <a:r>
              <a:t>• Warning: Protocol Violations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28999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8 instances of malformed DHCP packets with invalid options detected, indicating potential scanning or exploitation attempts.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69079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3460"/>
                </a:solidFill>
              </a:defRPr>
            </a:pPr>
            <a:r>
              <a:t>• Action Taken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19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All incidents were logged, analyzed, and appropriate containment measures were implemented through network isolation.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460"/>
          </a:solidFill>
          <a:ln w="381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3600" b="1">
                <a:solidFill>
                  <a:srgbClr val="E94560"/>
                </a:solidFill>
              </a:defRPr>
            </a:pPr>
            <a:r>
              <a:t>DHCP Operations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3460"/>
                </a:solidFill>
              </a:defRPr>
            </a:pPr>
            <a:r>
              <a:t>DISCOVER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6080" y="1234440"/>
            <a:ext cx="3657600" cy="228600"/>
          </a:xfrm>
          <a:prstGeom prst="rect">
            <a:avLst/>
          </a:prstGeom>
          <a:solidFill>
            <a:srgbClr val="C8C8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26080" y="1234440"/>
            <a:ext cx="1060704" cy="228600"/>
          </a:xfrm>
          <a:prstGeom prst="rect">
            <a:avLst/>
          </a:prstGeom>
          <a:solidFill>
            <a:srgbClr val="E94560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11887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E94560"/>
                </a:solidFill>
              </a:defRPr>
            </a:pPr>
            <a:r>
              <a:t>29%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3460"/>
                </a:solidFill>
              </a:defRPr>
            </a:pPr>
            <a:r>
              <a:t>OFFER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1691640"/>
            <a:ext cx="3657600" cy="228600"/>
          </a:xfrm>
          <a:prstGeom prst="rect">
            <a:avLst/>
          </a:prstGeom>
          <a:solidFill>
            <a:srgbClr val="C8C8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26080" y="1691640"/>
            <a:ext cx="1060704" cy="22860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6459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00D4AA"/>
                </a:solidFill>
              </a:defRPr>
            </a:pPr>
            <a:r>
              <a:t>29%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3460"/>
                </a:solidFill>
              </a:defRPr>
            </a:pPr>
            <a:r>
              <a:t>REQUEST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2148839"/>
            <a:ext cx="3657600" cy="228600"/>
          </a:xfrm>
          <a:prstGeom prst="rect">
            <a:avLst/>
          </a:prstGeom>
          <a:solidFill>
            <a:srgbClr val="C8C8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6080" y="2148839"/>
            <a:ext cx="1024128" cy="228600"/>
          </a:xfrm>
          <a:prstGeom prst="rect">
            <a:avLst/>
          </a:prstGeom>
          <a:solidFill>
            <a:srgbClr val="FFB347"/>
          </a:solidFill>
          <a:ln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21031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B347"/>
                </a:solidFill>
              </a:defRPr>
            </a:pPr>
            <a:r>
              <a:t>28%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5603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3460"/>
                </a:solidFill>
              </a:defRPr>
            </a:pPr>
            <a:r>
              <a:t>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2606039"/>
            <a:ext cx="3657600" cy="228600"/>
          </a:xfrm>
          <a:prstGeom prst="rect">
            <a:avLst/>
          </a:prstGeom>
          <a:solidFill>
            <a:srgbClr val="C8C8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26080" y="2606039"/>
            <a:ext cx="1024128" cy="228600"/>
          </a:xfrm>
          <a:prstGeom prst="rect">
            <a:avLst/>
          </a:prstGeom>
          <a:solidFill>
            <a:srgbClr val="4A90E2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25603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A90E2"/>
                </a:solidFill>
              </a:defRPr>
            </a:pPr>
            <a:r>
              <a:t>28%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017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3460"/>
                </a:solidFill>
              </a:defRPr>
            </a:pPr>
            <a:r>
              <a:t>RELEASE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3063239"/>
            <a:ext cx="3657600" cy="228600"/>
          </a:xfrm>
          <a:prstGeom prst="rect">
            <a:avLst/>
          </a:prstGeom>
          <a:solidFill>
            <a:srgbClr val="C8C8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26080" y="3063239"/>
            <a:ext cx="182880" cy="228600"/>
          </a:xfrm>
          <a:prstGeom prst="rect">
            <a:avLst/>
          </a:prstGeom>
          <a:solidFill>
            <a:srgbClr val="7B68EE"/>
          </a:solidFill>
          <a:ln>
            <a:solidFill>
              <a:srgbClr val="7B6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3017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7B68EE"/>
                </a:solidFill>
              </a:defRPr>
            </a:pPr>
            <a:r>
              <a:t>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4747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3460"/>
                </a:solidFill>
              </a:defRPr>
            </a:pPr>
            <a:r>
              <a:t>DECLINE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3520439"/>
            <a:ext cx="3657600" cy="228600"/>
          </a:xfrm>
          <a:prstGeom prst="rect">
            <a:avLst/>
          </a:prstGeom>
          <a:solidFill>
            <a:srgbClr val="C8C8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26080" y="3520439"/>
            <a:ext cx="36576" cy="228600"/>
          </a:xfrm>
          <a:prstGeom prst="rect">
            <a:avLst/>
          </a:prstGeom>
          <a:solidFill>
            <a:srgbClr val="C86464"/>
          </a:solidFill>
          <a:ln>
            <a:solidFill>
              <a:srgbClr val="C8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34747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C86464"/>
                </a:solidFill>
              </a:defRPr>
            </a:pPr>
            <a:r>
              <a:t>1%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3460"/>
          </a:solidFill>
          <a:ln w="381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 algn="l">
              <a:defRPr sz="4000" b="1">
                <a:solidFill>
                  <a:srgbClr val="E94560"/>
                </a:solidFill>
              </a:defRPr>
            </a:pPr>
            <a:r>
              <a:t>Splunk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3460"/>
                </a:solidFill>
              </a:defRPr>
            </a:pPr>
            <a:r>
              <a:t>• Field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Created custom field extractions using regex patterns to parse DHCP logs: source_ip, dest_ip, mac_address, dhcp_operation, lease_duration, dhcp_server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48839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3460"/>
                </a:solidFill>
              </a:defRPr>
            </a:pPr>
            <a:r>
              <a:t>• SPL Queries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79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Developed advanced Splunk queries for anomaly detection, pattern analysis, and real-time alerting using Search Processing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59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3460"/>
                </a:solidFill>
              </a:defRPr>
            </a:pPr>
            <a:r>
              <a:t>• Dashboards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28999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Built interactive dashboards with real-time data visualization, KPI cards, anomaly detection timeline, and suspicious activity tables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69079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3460"/>
                </a:solidFill>
              </a:defRPr>
            </a:pPr>
            <a:r>
              <a:t>• Alerts &amp; Reporting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19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Configured automated alerts for critical incidents with escalation procedures and comprehensive incident documentation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3460"/>
          </a:solidFill>
          <a:ln w="381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 algn="l">
              <a:defRPr sz="4000" b="1">
                <a:solidFill>
                  <a:srgbClr val="E94560"/>
                </a:solidFill>
              </a:defRPr>
            </a:pPr>
            <a:r>
              <a:t>Security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3460"/>
                </a:solidFill>
              </a:defRPr>
            </a:pPr>
            <a:r>
              <a:t>• DHCP Snooping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Enable DHCP snooping on network switches with trusted port lists to prevent rogue DHCP servers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48839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3460"/>
                </a:solidFill>
              </a:defRPr>
            </a:pPr>
            <a:r>
              <a:t>• DHCP Guard &amp; IP Source Guard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79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Deploy DHCP Guard to block rogue servers and IP Source Guard to prevent IP spoofing based on lease bindings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59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3460"/>
                </a:solidFill>
              </a:defRPr>
            </a:pPr>
            <a:r>
              <a:t>• Real-Time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28999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Maintain continuous Splunk monitoring with alerts for rapid requests, unauthorized servers, and protocol violations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69079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3460"/>
                </a:solidFill>
              </a:defRPr>
            </a:pPr>
            <a:r>
              <a:t>• Network Segmentation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19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Implement VLAN-based segmentation with dedicated DHCP servers and restricted routing for DHCP traffic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29199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3460"/>
                </a:solidFill>
              </a:defRPr>
            </a:pPr>
            <a:r>
              <a:t>• Incident Response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49239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Develop formal incident response procedures with defined escalation, containment, and forensic investigation protocols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945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Conclusion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lnSpc>
                <a:spcPct val="140000"/>
              </a:lnSpc>
              <a:defRPr sz="1300">
                <a:solidFill>
                  <a:srgbClr val="E8EAED"/>
                </a:solidFill>
              </a:defRPr>
            </a:pPr>
            <a:r>
              <a:t>This DHCP Splunk SIEM analysis project demonstrates essential SOC analyst capabilities:</a:t>
            </a:r>
            <a:br/>
            <a:br/>
            <a:r>
              <a:t>✓ Successfully identified 23 network anomalies including critical rogue DHCP server</a:t>
            </a:r>
            <a:br/>
            <a:r>
              <a:t>✓ Implemented real-time monitoring with automated alerting and incident response</a:t>
            </a:r>
            <a:br/>
            <a:r>
              <a:t>✓ Created comprehensive dashboards for network security visualization</a:t>
            </a:r>
            <a:br/>
            <a:r>
              <a:t>✓ Provided actionable security recommendations for infrastructure hardening</a:t>
            </a:r>
            <a:br/>
            <a:br/>
            <a:r>
              <a:t>Next Steps:</a:t>
            </a:r>
            <a:br/>
            <a:r>
              <a:t>→ Deploy recommended DHCP security controls (snooping, DHCP Guard, IP Source Guard)</a:t>
            </a:r>
            <a:br/>
            <a:r>
              <a:t>→ Expand monitoring to additional protocols (DNS, ARP, ICMP)</a:t>
            </a:r>
            <a:br/>
            <a:r>
              <a:t>→ Implement automated threat hunting using advanced Splunk analytics</a:t>
            </a:r>
            <a:br/>
            <a:r>
              <a:t>→ Establish continuous compliance monitoring and audit trails</a:t>
            </a:r>
            <a:br/>
            <a:br/>
            <a:r>
              <a:t>This project demonstrates the critical value of SIEM platforms in modern cybersecurity operations and network defense.</a:t>
            </a:r>
            <a:b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